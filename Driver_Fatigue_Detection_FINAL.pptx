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53" y="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33695" y="-5394960"/>
            <a:ext cx="7772400" cy="7772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979615" y="-3749039"/>
            <a:ext cx="6126480" cy="612648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34095" y="-2194560"/>
            <a:ext cx="4572000" cy="45720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868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Segoe UI"/>
              </a:rPr>
              <a:t>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3A01E"/>
                </a:solidFill>
                <a:latin typeface="Segoe UI"/>
              </a:rPr>
              <a:t>REAL-TIME AI SAFETY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Driver Fatigue &amp; Distraction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0215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Detection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389120"/>
            <a:ext cx="146304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6F3F0"/>
                </a:solidFill>
                <a:latin typeface="Segoe UI"/>
              </a:rPr>
              <a:t>YOLOv8  •  MediaPipe  •  Custom CNN  •  Head-Pose Estimation  •  CARLA  •  Face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9418320" cy="286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BFE1D8"/>
                </a:solidFill>
                <a:latin typeface="Segoe UI"/>
              </a:rPr>
              <a:t>Pre</a:t>
            </a:r>
            <a:r>
              <a:rPr lang="en-IN" sz="1200" b="0" i="0" dirty="0">
                <a:solidFill>
                  <a:srgbClr val="BFE1D8"/>
                </a:solidFill>
                <a:latin typeface="Segoe UI"/>
              </a:rPr>
              <a:t>sented</a:t>
            </a:r>
            <a:r>
              <a:rPr sz="1200" b="0" i="0" dirty="0">
                <a:solidFill>
                  <a:srgbClr val="BFE1D8"/>
                </a:solidFill>
                <a:latin typeface="Segoe UI"/>
              </a:rPr>
              <a:t> </a:t>
            </a:r>
            <a:r>
              <a:rPr lang="en-IN" sz="1200" dirty="0">
                <a:solidFill>
                  <a:srgbClr val="BFE1D8"/>
                </a:solidFill>
                <a:latin typeface="Segoe UI"/>
              </a:rPr>
              <a:t>by</a:t>
            </a:r>
            <a:r>
              <a:rPr sz="1200" b="0" i="0" dirty="0">
                <a:solidFill>
                  <a:srgbClr val="BFE1D8"/>
                </a:solidFill>
                <a:latin typeface="Segoe UI"/>
              </a:rPr>
              <a:t> </a:t>
            </a:r>
            <a:r>
              <a:rPr lang="en-IN" sz="1200" b="0" i="0" dirty="0">
                <a:solidFill>
                  <a:srgbClr val="BFE1D8"/>
                </a:solidFill>
                <a:latin typeface="Segoe UI"/>
              </a:rPr>
              <a:t>Het Desai, Shreena Lathiya, Harshsingh Rajput, Om Mahaseth, Sahil Sonara</a:t>
            </a:r>
            <a:endParaRPr sz="1200" b="0" i="0" dirty="0">
              <a:solidFill>
                <a:srgbClr val="BFE1D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" y="2560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F6E5A"/>
                </a:solidFill>
                <a:latin typeface="Segoe U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"/>
            <a:ext cx="9357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E3A01E"/>
                </a:solidFill>
                <a:latin typeface="Segoe UI"/>
              </a:rPr>
              <a:t>MOTIVATION</a:t>
            </a:r>
          </a:p>
          <a:p>
            <a:r>
              <a:rPr sz="2300" b="1" i="0">
                <a:solidFill>
                  <a:srgbClr val="FFFFFF"/>
                </a:solidFill>
                <a:latin typeface="Segoe UI"/>
              </a:rPr>
              <a:t>Problem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3474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E6F3F0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" y="155448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1508760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Fatigue crashes are uniquely severe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No braking, no reaction — drivers who fall asleep often don't respond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2151" y="1417320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79311" y="155448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5655" y="1508760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Distraction is just as dangerous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A driver can be wide awake and still not be watching the road.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30296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3267456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221736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Real-time, webcam-only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No specialized hardware — runs on a standard laptop camera.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2151" y="3130296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79311" y="3267456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5655" y="3221736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Two independent, honest signals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Eye closure and head orientation tracked separately, never blurred into one score.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3272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5800" y="4980432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4934712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Low false-positive design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Calibration + sustained-deviation confirmation so blinks and glances don't trigger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2151" y="4843272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79311" y="4980432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655" y="4934712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A believable real-world payoff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The live driver state actually drives a simulated vehicle's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" y="2560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F6E5A"/>
                </a:solidFill>
                <a:latin typeface="Segoe UI"/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"/>
            <a:ext cx="9357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E3A01E"/>
                </a:solidFill>
                <a:latin typeface="Segoe UI"/>
              </a:rPr>
              <a:t>ARCHITECTURE</a:t>
            </a:r>
          </a:p>
          <a:p>
            <a:r>
              <a:rPr sz="23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3474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E6F3F0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03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2533573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Webcam Frame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OpenCV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9645" y="1965960"/>
            <a:ext cx="265176" cy="182880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02253" y="1554480"/>
            <a:ext cx="2533573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Face Mesh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MediaPipe, 468 pts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3259" y="1965960"/>
            <a:ext cx="265176" cy="182880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55867" y="1554480"/>
            <a:ext cx="2533573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Eye ROI + CNN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Open / Closed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16873" y="1965960"/>
            <a:ext cx="265176" cy="182880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09481" y="1554480"/>
            <a:ext cx="2533573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Head Pose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solvePnP: yaw/pitch/roll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80360"/>
            <a:ext cx="2533573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Drowsiness Logic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Wall-clock beep + strikes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09645" y="3291840"/>
            <a:ext cx="265176" cy="182880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02253" y="2880360"/>
            <a:ext cx="2533573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Attention Logic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Calibrated + timed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63259" y="3291840"/>
            <a:ext cx="265176" cy="182880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55867" y="2880360"/>
            <a:ext cx="2533573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Vehicle Response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CARLA / local fallback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16873" y="3291840"/>
            <a:ext cx="265176" cy="182880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09481" y="2880360"/>
            <a:ext cx="2533573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Driver-ID Check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YOLO + LBPH, only while stopped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36E"/>
                </a:solidFill>
                <a:latin typeface="Segoe UI"/>
              </a:rPr>
              <a:t>Eye closure and head pose run in parallel on the same camera feed and combine into a Driver State that drives an actual vehicle response — never just a log line.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5074920"/>
          <a:ext cx="1109441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T="63500" marB="635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T="63500" marB="63500">
                    <a:solidFill>
                      <a:srgbClr val="0F6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YOLOv8n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Face detection — also crops faces for driver-ID recognition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MediaPipe Face Mesh</a:t>
                      </a:r>
                    </a:p>
                  </a:txBody>
                  <a:tcPr marT="50800" marB="508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468-pt pretrained landmarks feeding both eye + head-pose paths</a:t>
                      </a:r>
                    </a:p>
                  </a:txBody>
                  <a:tcPr marT="50800" marB="50800">
                    <a:solidFill>
                      <a:srgbClr val="F6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Custom CNN / OpenCV / CARLA / LBPH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Eye state · head pose math · vehicle sim · driver recognition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" y="2560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F6E5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"/>
            <a:ext cx="9357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E3A01E"/>
                </a:solidFill>
                <a:latin typeface="Segoe UI"/>
              </a:rPr>
              <a:t>MODEL 1</a:t>
            </a:r>
          </a:p>
          <a:p>
            <a:r>
              <a:rPr sz="2300" b="1" i="0">
                <a:solidFill>
                  <a:srgbClr val="FFFFFF"/>
                </a:solidFill>
                <a:latin typeface="Segoe UI"/>
              </a:rPr>
              <a:t>YOLOv8n — Face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3474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E6F3F0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04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2602153" cy="9601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4237"/>
                </a:solidFill>
                <a:latin typeface="Segoe UI"/>
              </a:rPr>
              <a:t>0.90</a:t>
            </a:r>
          </a:p>
          <a:p>
            <a:pPr algn="ctr">
              <a:spcBef>
                <a:spcPts val="200"/>
              </a:spcBef>
            </a:pPr>
            <a:r>
              <a:rPr sz="850" b="1" i="0">
                <a:solidFill>
                  <a:srgbClr val="148F76"/>
                </a:solidFill>
                <a:latin typeface="Segoe UI"/>
              </a:rP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1209" y="1261872"/>
            <a:ext cx="2602153" cy="9601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4237"/>
                </a:solidFill>
                <a:latin typeface="Segoe UI"/>
              </a:rPr>
              <a:t>0.81</a:t>
            </a:r>
          </a:p>
          <a:p>
            <a:pPr algn="ctr">
              <a:spcBef>
                <a:spcPts val="200"/>
              </a:spcBef>
            </a:pPr>
            <a:r>
              <a:rPr sz="850" b="1" i="0">
                <a:solidFill>
                  <a:srgbClr val="148F76"/>
                </a:solidFill>
                <a:latin typeface="Segoe UI"/>
              </a:rPr>
              <a:t>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23160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256032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2514600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What it is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A real-time, single-stage object detector — finds and boxes the driver's face in each frame.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2151" y="2423160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79311" y="256032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5655" y="2514600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Transfer learning, not from scratch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Fine-tuned from yolov8n.pt (COCO-pretrained) — reuses proven visual features instead of learning from zero.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11296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800" y="3648456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3602736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Training data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13,386 training / 3,347 validation images, YOLO-format bounding boxes, 1 class: face.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2151" y="3511296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79311" y="3648456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5655" y="3602736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Training config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50 epochs, image size 640, batch 16, GPU — early-stop patience 10 (never triggered).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99432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85800" y="4736592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" y="4690872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Why 'nano'?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The smallest YOLOv8 variant — chosen specifically for real-time speed on ordinary hardware, not a server GPU.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2151" y="4599432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79311" y="4736592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5655" y="4690872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Role in this project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Crops the face for the driver-recognition system — its first real inference-time use, after initially being loaded but unused.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623560"/>
            <a:ext cx="11094415" cy="777240"/>
          </a:xfrm>
          <a:prstGeom prst="roundRect">
            <a:avLst>
              <a:gd name="adj" fmla="val 15000"/>
            </a:avLst>
          </a:prstGeom>
          <a:solidFill>
            <a:srgbClr val="E6F3F0"/>
          </a:solidFill>
          <a:ln w="1270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100" b="0" i="1">
                <a:solidFill>
                  <a:srgbClr val="0A4237"/>
                </a:solidFill>
                <a:latin typeface="Segoe UI"/>
              </a:rPr>
              <a:t>Full fine-tune: freeze=null in the training config — every layer was trainable, not just a frozen backbone.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" y="2560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F6E5A"/>
                </a:solidFill>
                <a:latin typeface="Segoe UI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"/>
            <a:ext cx="9357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E3A01E"/>
                </a:solidFill>
                <a:latin typeface="Segoe UI"/>
              </a:rPr>
              <a:t>PRETRAINED COMPONENT</a:t>
            </a:r>
          </a:p>
          <a:p>
            <a:r>
              <a:rPr sz="2300" b="1" i="0">
                <a:solidFill>
                  <a:srgbClr val="FFFFFF"/>
                </a:solidFill>
                <a:latin typeface="Segoe UI"/>
              </a:rPr>
              <a:t>MediaPipe Face 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3474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E6F3F0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05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2602153" cy="9601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4237"/>
                </a:solidFill>
                <a:latin typeface="Segoe UI"/>
              </a:rPr>
              <a:t>468</a:t>
            </a:r>
          </a:p>
          <a:p>
            <a:pPr algn="ctr">
              <a:spcBef>
                <a:spcPts val="200"/>
              </a:spcBef>
            </a:pPr>
            <a:r>
              <a:rPr sz="850" b="1" i="0">
                <a:solidFill>
                  <a:srgbClr val="148F76"/>
                </a:solidFill>
                <a:latin typeface="Segoe UI"/>
              </a:rPr>
              <a:t>LANDMARKS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9393" y="1325880"/>
            <a:ext cx="2602153" cy="9601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4237"/>
                </a:solidFill>
                <a:latin typeface="Segoe UI"/>
              </a:rPr>
              <a:t>0</a:t>
            </a:r>
          </a:p>
          <a:p>
            <a:pPr algn="ctr">
              <a:spcBef>
                <a:spcPts val="200"/>
              </a:spcBef>
            </a:pPr>
            <a:r>
              <a:rPr sz="850" b="1" i="0">
                <a:solidFill>
                  <a:srgbClr val="148F76"/>
                </a:solidFill>
                <a:latin typeface="Segoe UI"/>
              </a:rPr>
              <a:t>TRAINING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325880"/>
            <a:ext cx="2602153" cy="9601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4237"/>
                </a:solidFill>
                <a:latin typeface="Segoe UI"/>
              </a:rPr>
              <a:t>CPU</a:t>
            </a:r>
          </a:p>
          <a:p>
            <a:pPr algn="ctr">
              <a:spcBef>
                <a:spcPts val="200"/>
              </a:spcBef>
            </a:pPr>
            <a:r>
              <a:rPr sz="850" b="1" i="0">
                <a:solidFill>
                  <a:srgbClr val="148F76"/>
                </a:solidFill>
                <a:latin typeface="Segoe UI"/>
              </a:rPr>
              <a:t>REAL-TIME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0901" y="1325880"/>
            <a:ext cx="2602153" cy="9601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4237"/>
                </a:solidFill>
                <a:latin typeface="Segoe UI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850" b="1" i="0">
                <a:solidFill>
                  <a:srgbClr val="148F76"/>
                </a:solidFill>
                <a:latin typeface="Segoe UI"/>
              </a:rPr>
              <a:t>PIPELINES FED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23160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256032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2514600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What it is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A pretrained facial landmark model from Google — placed dots across the whole face every frame.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2151" y="2423160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79311" y="256032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5655" y="2514600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Not trained by this project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Used entirely off-the-shelf — a deliberate engineering choice, not a shortcut.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11296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800" y="3648456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3602736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Feeds TWO pipelines at once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The same 468 points crop each eye for the CNN, AND supply the 6 points solvePnP uses for head pose.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2151" y="3511296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79311" y="3648456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5655" y="3602736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Why not build our own?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Landmark detection at this accuracy needs huge, diverse datasets — reusing a proven model beats reinventing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99432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85800" y="4736592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" y="4690872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Real-time on CPU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Light enough to run every frame without a GPU, unlike the CNN and YOLO models.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2151" y="4599432"/>
            <a:ext cx="5492343" cy="88696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79311" y="4736592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5655" y="4690872"/>
            <a:ext cx="466938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Now visualized live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All 468 dots are drawn on the video feed; the 6 head-pose points are highlighted separately.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623560"/>
            <a:ext cx="11094415" cy="777240"/>
          </a:xfrm>
          <a:prstGeom prst="roundRect">
            <a:avLst>
              <a:gd name="adj" fmla="val 15000"/>
            </a:avLst>
          </a:prstGeom>
          <a:solidFill>
            <a:srgbClr val="E6F3F0"/>
          </a:solidFill>
          <a:ln w="1270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100" b="0" i="1">
                <a:solidFill>
                  <a:srgbClr val="0A4237"/>
                </a:solidFill>
                <a:latin typeface="Segoe UI"/>
              </a:rPr>
              <a:t>Single point of failure worth knowing: if MediaPipe loses the face, both the eye pipeline AND head-pose pipeline stop — the app reports 'UNKNOWN' rather than guessing.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" y="2560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F6E5A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"/>
            <a:ext cx="9357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E3A01E"/>
                </a:solidFill>
                <a:latin typeface="Segoe UI"/>
              </a:rPr>
              <a:t>MODEL 2</a:t>
            </a:r>
          </a:p>
          <a:p>
            <a:r>
              <a:rPr sz="2300" b="1" i="0">
                <a:solidFill>
                  <a:srgbClr val="FFFFFF"/>
                </a:solidFill>
                <a:latin typeface="Segoe UI"/>
              </a:rPr>
              <a:t>Custom CNN — Eye State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3474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E6F3F0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06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2602153" cy="9601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4237"/>
                </a:solidFill>
                <a:latin typeface="Segoe UI"/>
              </a:rPr>
              <a:t>47,893</a:t>
            </a:r>
          </a:p>
          <a:p>
            <a:pPr algn="ctr">
              <a:spcBef>
                <a:spcPts val="200"/>
              </a:spcBef>
            </a:pPr>
            <a:r>
              <a:rPr sz="850" b="1" i="0">
                <a:solidFill>
                  <a:srgbClr val="148F76"/>
                </a:solidFill>
                <a:latin typeface="Segoe UI"/>
              </a:rPr>
              <a:t>TRAINING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9393" y="1325880"/>
            <a:ext cx="2602153" cy="9601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4237"/>
                </a:solidFill>
                <a:latin typeface="Segoe UI"/>
              </a:rPr>
              <a:t>20</a:t>
            </a:r>
          </a:p>
          <a:p>
            <a:pPr algn="ctr">
              <a:spcBef>
                <a:spcPts val="200"/>
              </a:spcBef>
            </a:pPr>
            <a:r>
              <a:rPr sz="850" b="1" i="0">
                <a:solidFill>
                  <a:srgbClr val="148F76"/>
                </a:solidFill>
                <a:latin typeface="Segoe UI"/>
              </a:rPr>
              <a:t>EPOCHS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325880"/>
            <a:ext cx="2602153" cy="9601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4237"/>
                </a:solidFill>
                <a:latin typeface="Segoe UI"/>
              </a:rPr>
              <a:t>0.4</a:t>
            </a:r>
          </a:p>
          <a:p>
            <a:pPr algn="ctr">
              <a:spcBef>
                <a:spcPts val="200"/>
              </a:spcBef>
            </a:pPr>
            <a:r>
              <a:rPr sz="850" b="1" i="0">
                <a:solidFill>
                  <a:srgbClr val="148F76"/>
                </a:solidFill>
                <a:latin typeface="Segoe UI"/>
              </a:rPr>
              <a:t>DECISION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0901" y="1325880"/>
            <a:ext cx="2602153" cy="9601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4237"/>
                </a:solidFill>
                <a:latin typeface="Segoe UI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850" b="1" i="0">
                <a:solidFill>
                  <a:srgbClr val="148F76"/>
                </a:solidFill>
                <a:latin typeface="Segoe UI"/>
              </a:rPr>
              <a:t>CLASSES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2423160"/>
          <a:ext cx="1109441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Layer Block</a:t>
                      </a:r>
                    </a:p>
                  </a:txBody>
                  <a:tcPr marT="63500" marB="635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Details</a:t>
                      </a:r>
                    </a:p>
                  </a:txBody>
                  <a:tcPr marT="63500" marB="63500">
                    <a:solidFill>
                      <a:srgbClr val="0F6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Conv Block 1-3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Conv2d(1→32→64→128, 3×3) → BatchNorm → ReLU → MaxPool, each block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Classifier Head</a:t>
                      </a:r>
                    </a:p>
                  </a:txBody>
                  <a:tcPr marT="50800" marB="508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Flatten → Linear(1152→256) → ReLU → Dropout(0.5) → Linear(256→2)</a:t>
                      </a:r>
                    </a:p>
                  </a:txBody>
                  <a:tcPr marT="50800" marB="50800">
                    <a:solidFill>
                      <a:srgbClr val="F6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Input / Output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2"/>
                          </a:solidFill>
                          <a:latin typeface="Segoe UI"/>
                        </a:rPr>
                        <a:t>24×24 grayscale eye crop  →  softmax: open / closed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48640" y="3794760"/>
            <a:ext cx="5492343" cy="745236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886200"/>
            <a:ext cx="4669383" cy="562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Trained entirely from scratch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No pretrained weights — random initialization, unlike the face detector.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3794760"/>
            <a:ext cx="5492343" cy="745236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79311" y="393192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5655" y="3886200"/>
            <a:ext cx="4669383" cy="562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Why from scratch?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Classifying a small, low-resolution eye crop doesn't need a large pretrained backbone.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41164"/>
            <a:ext cx="5492343" cy="745236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5800" y="4878324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4832604"/>
            <a:ext cx="4669383" cy="562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Balanced dataset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24,000 closed-eye + 23,893 open-eye images — no class-imbalance correction needed.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2151" y="4741164"/>
            <a:ext cx="5492343" cy="745236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79311" y="4878324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5655" y="4832604"/>
            <a:ext cx="4669383" cy="562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Sensitive-by-design threshold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Closed if P(closed) &gt; 0.4, not 0.5 — deliberately lowered to react faster to partially closed eyes.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11094415" cy="777240"/>
          </a:xfrm>
          <a:prstGeom prst="roundRect">
            <a:avLst>
              <a:gd name="adj" fmla="val 15000"/>
            </a:avLst>
          </a:prstGeom>
          <a:solidFill>
            <a:srgbClr val="E6F3F0"/>
          </a:solidFill>
          <a:ln w="1270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100" b="0" i="1">
                <a:solidFill>
                  <a:srgbClr val="0A4237"/>
                </a:solidFill>
                <a:latin typeface="Segoe UI"/>
              </a:rPr>
              <a:t>This is the model the entire drowsiness system is built on — its open/closed output directly drives the beep and the vehicle's strike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" y="2560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F6E5A"/>
                </a:solidFill>
                <a:latin typeface="Segoe UI"/>
              </a:rPr>
              <a:t>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"/>
            <a:ext cx="9357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E3A01E"/>
                </a:solidFill>
                <a:latin typeface="Segoe UI"/>
              </a:rPr>
              <a:t>DETECTION LOGIC</a:t>
            </a:r>
          </a:p>
          <a:p>
            <a:r>
              <a:rPr sz="2300" b="1" i="0">
                <a:solidFill>
                  <a:srgbClr val="FFFFFF"/>
                </a:solidFill>
                <a:latin typeface="Segoe UI"/>
              </a:rPr>
              <a:t>Drowsiness Detection &amp; Vehicle Escalation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3474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E6F3F0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07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2533573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Eye Crop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MediaPipe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9645" y="1828800"/>
            <a:ext cx="265176" cy="182880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02253" y="1463040"/>
            <a:ext cx="2533573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CNN: Open/Closed</a:t>
            </a:r>
          </a:p>
          <a:p>
            <a:pPr algn="ctr">
              <a:spcBef>
                <a:spcPts val="100"/>
              </a:spcBef>
            </a:pPr>
            <a:endParaRPr sz="1150" b="1" i="0">
              <a:solidFill>
                <a:srgbClr val="0A4237"/>
              </a:solidFill>
              <a:latin typeface="Segoe UI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963259" y="1828800"/>
            <a:ext cx="265176" cy="182880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55867" y="1463040"/>
            <a:ext cx="2533573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Wall-Clock Timer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0.6s closed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16873" y="1828800"/>
            <a:ext cx="265176" cy="182880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09481" y="1463040"/>
            <a:ext cx="2533573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0A4237"/>
                </a:solidFill>
                <a:latin typeface="Segoe UI"/>
              </a:rPr>
              <a:t>BEEP</a:t>
            </a:r>
          </a:p>
          <a:p>
            <a:pPr algn="ctr">
              <a:spcBef>
                <a:spcPts val="100"/>
              </a:spcBef>
            </a:pPr>
            <a:r>
              <a:rPr sz="850" b="0" i="0">
                <a:solidFill>
                  <a:srgbClr val="5B636E"/>
                </a:solidFill>
                <a:latin typeface="Segoe UI"/>
              </a:rPr>
              <a:t>+ persistent strike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269748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Strikes</a:t>
                      </a:r>
                    </a:p>
                  </a:txBody>
                  <a:tcPr marT="63500" marB="63500">
                    <a:solidFill>
                      <a:srgbClr val="E3A0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Trigger</a:t>
                      </a:r>
                    </a:p>
                  </a:txBody>
                  <a:tcPr marT="63500" marB="63500">
                    <a:solidFill>
                      <a:srgbClr val="E3A0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Vehicle Response</a:t>
                      </a:r>
                    </a:p>
                  </a:txBody>
                  <a:tcPr marT="63500" marB="63500">
                    <a:solidFill>
                      <a:srgbClr val="E3A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1C2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1C22"/>
                          </a:solidFill>
                          <a:latin typeface="Segoe UI"/>
                        </a:rPr>
                        <a:t>1st separate episode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1C22"/>
                          </a:solidFill>
                          <a:latin typeface="Segoe UI"/>
                        </a:rPr>
                        <a:t>Speed reduced to 25 km/h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1C22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T="50800" marB="508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1C22"/>
                          </a:solidFill>
                          <a:latin typeface="Segoe UI"/>
                        </a:rPr>
                        <a:t>2nd separate episode</a:t>
                      </a:r>
                    </a:p>
                  </a:txBody>
                  <a:tcPr marT="50800" marB="508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1C22"/>
                          </a:solidFill>
                          <a:latin typeface="Segoe UI"/>
                        </a:rPr>
                        <a:t>12 km/h + merges to last lane</a:t>
                      </a:r>
                    </a:p>
                  </a:txBody>
                  <a:tcPr marT="50800" marB="50800">
                    <a:solidFill>
                      <a:srgbClr val="F6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1C22"/>
                          </a:solidFill>
                          <a:latin typeface="Segoe UI"/>
                        </a:rPr>
                        <a:t>3+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1C22"/>
                          </a:solidFill>
                          <a:latin typeface="Segoe UI"/>
                        </a:rPr>
                        <a:t>3rd separate episode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1C22"/>
                          </a:solidFill>
                          <a:latin typeface="Segoe UI"/>
                        </a:rPr>
                        <a:t>Full stop — until driver change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48640" y="4709160"/>
            <a:ext cx="5492343" cy="160020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5800" y="484632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4800600"/>
            <a:ext cx="4669383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Timing is wall-clock, not frame-based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Fixed a real bug: a frame-count threshold made the beep FPS-dependent.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2151" y="4709160"/>
            <a:ext cx="5492343" cy="160020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79311" y="484632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5655" y="4800600"/>
            <a:ext cx="4669383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Strikes are persistent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They do NOT reset when eyes reopen — only a confirmed driver change resets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" y="2560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F6E5A"/>
                </a:solidFill>
                <a:latin typeface="Segoe UI"/>
              </a:rPr>
              <a:t>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"/>
            <a:ext cx="9357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E3A01E"/>
                </a:solidFill>
                <a:latin typeface="Segoe UI"/>
              </a:rPr>
              <a:t>LOOKING AHEAD</a:t>
            </a:r>
          </a:p>
          <a:p>
            <a:r>
              <a:rPr sz="2300" b="1" i="0">
                <a:solidFill>
                  <a:srgbClr val="FFFFFF"/>
                </a:solidFill>
                <a:latin typeface="Segoe U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3474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E6F3F0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08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" y="155448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1840312"/>
            <a:ext cx="4669383" cy="6658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lang="en-IN" sz="1350" b="1" dirty="0">
                <a:solidFill>
                  <a:srgbClr val="0A4237"/>
                </a:solidFill>
                <a:latin typeface="Segoe UI"/>
              </a:rPr>
              <a:t>R</a:t>
            </a:r>
            <a:r>
              <a:rPr sz="1350" b="1" i="0" dirty="0" err="1">
                <a:solidFill>
                  <a:srgbClr val="0A4237"/>
                </a:solidFill>
                <a:latin typeface="Segoe UI"/>
              </a:rPr>
              <a:t>ecognition</a:t>
            </a:r>
            <a:r>
              <a:rPr sz="1350" b="1" i="0" dirty="0">
                <a:solidFill>
                  <a:srgbClr val="0A4237"/>
                </a:solidFill>
                <a:latin typeface="Segoe UI"/>
              </a:rPr>
              <a:t> is lightweight 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 dirty="0">
                <a:solidFill>
                  <a:srgbClr val="5B636E"/>
                </a:solidFill>
                <a:latin typeface="Segoe UI"/>
              </a:rPr>
              <a:t>Not production-grade face ID — sensitive to lighting and camera angle, not formally validated on real faces.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2151" y="1417320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79311" y="155448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5655" y="1508760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Low light &amp; eyewear untested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Performance with glasses/sunglasses or poor lighting has not been formally evaluated for the eye classifier or head pose.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30296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3267456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221736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Head orientation, not eye gaze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Distraction detection measures where the head points, not where the eyes actually look within the 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2151" y="3130296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79311" y="3267456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5655" y="3221736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Single driver profile per session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The face/calibration reference resets every session — no persistent multi-driver storage yet.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3272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5800" y="4980432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4934712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CARLA needs its own server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The bridge is real and tested, but requires the ~11GB CARLA server running separately — not bundled.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2151" y="4843272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79311" y="4980432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655" y="4934712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Simple steering, no reactive traffic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A proportional pure-pursuit controller, not a full path planner; other CARLA traffic doesn't react to this vehicle.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" y="2560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F6E5A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"/>
            <a:ext cx="93570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E3A01E"/>
                </a:solidFill>
                <a:latin typeface="Segoe UI"/>
              </a:rPr>
              <a:t>LOOKING AHEAD</a:t>
            </a:r>
          </a:p>
          <a:p>
            <a:r>
              <a:rPr sz="2300" b="1" i="0">
                <a:solidFill>
                  <a:srgbClr val="FFFFFF"/>
                </a:solidFill>
                <a:latin typeface="Segoe UI"/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3474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E6F3F0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AEB6BF"/>
                </a:solidFill>
                <a:latin typeface="Segoe UI"/>
              </a:rPr>
              <a:t>09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" y="155448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1508760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Yawn &amp; nod detection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Extend the same landmark pipeline to catch yawning and head-nodding micro-sleep cues.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2151" y="1417320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79311" y="1554480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5655" y="1508760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Real CAN-bus integration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Replace the CARLA bridge with an actual vehicle's control bus, using the same Driver State interface.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30296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3267456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221736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Eye-gaze tracking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Track pupil direction to complement head pose — catches distraction even when the head stays still.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2151" y="3130296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79311" y="3267456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5655" y="3221736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Multi-driver profiles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Persist calibration + face references across sessions so returning drivers are recognized instantly.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3272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5800" y="4980432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4934712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Formal accuracy validation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Structured testing across lighting conditions, eyewear, and diverse driver demographics.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2151" y="4843272"/>
            <a:ext cx="5492343" cy="1511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79311" y="4980432"/>
            <a:ext cx="365760" cy="365760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655" y="4934712"/>
            <a:ext cx="4669383" cy="1328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sz="1350" b="1" i="0">
                <a:solidFill>
                  <a:srgbClr val="0A4237"/>
                </a:solidFill>
                <a:latin typeface="Segoe UI"/>
              </a:rPr>
              <a:t>Smarter vehicle control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5B636E"/>
                </a:solidFill>
                <a:latin typeface="Segoe UI"/>
              </a:rPr>
              <a:t>Traffic-aware path planning in CARLA, replacing the current simple proportional steering.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4237"/>
              </a:gs>
              <a:gs pos="100000">
                <a:srgbClr val="0F6E5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0" y="1097280"/>
            <a:ext cx="7772400" cy="7772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297680" y="2743200"/>
            <a:ext cx="6126480" cy="612648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2743200" y="4297680"/>
            <a:ext cx="4572000" cy="45720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A01E"/>
                </a:solidFill>
                <a:latin typeface="Segoe U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Complete, Tested Driver Monitoring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9509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Transfer learning, a from-scratch CNN, classical computer vision, and a persistent priority-ordered escalation policy — combined into a system that distinguishes ATTENTIVE, DISTRACTED, and DROWSY in real time, drives an actual simulated vehicle, recovers automatically via face recognition, and is backed by 42 passing automated tests.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502920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25780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1341</Words>
  <Application>Microsoft Office PowerPoint</Application>
  <PresentationFormat>Widescreen</PresentationFormat>
  <Paragraphs>241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Paresh Patel</cp:lastModifiedBy>
  <cp:revision>4</cp:revision>
  <dcterms:created xsi:type="dcterms:W3CDTF">2013-01-27T09:14:16Z</dcterms:created>
  <dcterms:modified xsi:type="dcterms:W3CDTF">2026-09-17T08:48:14Z</dcterms:modified>
  <cp:category/>
</cp:coreProperties>
</file>