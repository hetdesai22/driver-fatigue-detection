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33695" y="-5394960"/>
            <a:ext cx="7772400" cy="777240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979615" y="-3749039"/>
            <a:ext cx="6126480" cy="612648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34095" y="-2194560"/>
            <a:ext cx="4572000" cy="457200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86868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 i="0">
                <a:solidFill>
                  <a:srgbClr val="FFFFFF"/>
                </a:solidFill>
                <a:latin typeface="Segoe UI"/>
              </a:rPr>
              <a:t>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3A01E"/>
                </a:solidFill>
                <a:latin typeface="Segoe UI"/>
              </a:rPr>
              <a:t>REAL-TIME AI SAFETY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Segoe UI"/>
              </a:rPr>
              <a:t>Driver Fatigue &amp; Distraction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Segoe UI"/>
              </a:rPr>
              <a:t>Detection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4434840"/>
            <a:ext cx="1463040" cy="38100"/>
          </a:xfrm>
          <a:prstGeom prst="rect">
            <a:avLst/>
          </a:prstGeom>
          <a:solidFill>
            <a:srgbClr val="E3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1772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6F3F0"/>
                </a:solidFill>
                <a:latin typeface="Segoe UI"/>
              </a:rPr>
              <a:t>YOLOv8  •  MediaPipe Face Mesh  •  Custom CNN  •  Head-Pose Estimation  •  CARLA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0350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BFE1D8"/>
                </a:solidFill>
                <a:latin typeface="Segoe UI"/>
              </a:rPr>
              <a:t>Prepared for IBM Faculty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51215" y="2834640"/>
            <a:ext cx="5486400" cy="548640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91295" y="3474721"/>
            <a:ext cx="4206240" cy="420624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85656" y="4069080"/>
            <a:ext cx="3017520" cy="301752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0" b="1" i="0">
                <a:solidFill>
                  <a:srgbClr val="1F937C"/>
                </a:solidFill>
                <a:latin typeface="Segoe UI Ligh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4612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Segoe UI"/>
              </a:rPr>
              <a:t>The Problem &amp;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16052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6F3F0"/>
                </a:solidFill>
                <a:latin typeface="Segoe UI"/>
              </a:rPr>
              <a:t>Why this system exists, and what it sets out to solve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4023360"/>
            <a:ext cx="1280160" cy="38100"/>
          </a:xfrm>
          <a:prstGeom prst="rect">
            <a:avLst/>
          </a:prstGeom>
          <a:solidFill>
            <a:srgbClr val="E3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noFill/>
          <a:ln w="177800">
            <a:solidFill>
              <a:srgbClr val="E6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292608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0F6E5A"/>
                </a:solidFill>
                <a:latin typeface="Segoe UI"/>
              </a:rP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2"/>
            <a:ext cx="92656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 i="0">
                <a:solidFill>
                  <a:srgbClr val="E3A01E"/>
                </a:solidFill>
                <a:latin typeface="Segoe UI"/>
              </a:rPr>
              <a:t>MOTIVATION</a:t>
            </a:r>
          </a:p>
          <a:p>
            <a:r>
              <a:rPr sz="2500" b="1" i="0">
                <a:solidFill>
                  <a:srgbClr val="FFFFFF"/>
                </a:solidFill>
                <a:latin typeface="Segoe UI"/>
              </a:rP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E6F3F0"/>
                </a:solidFill>
                <a:latin typeface="Segoe U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DRIVER FATIGUE &amp; DISTRACTION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03 / 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691640"/>
            <a:ext cx="5455767" cy="221742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9808" y="184708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801368"/>
            <a:ext cx="4587087" cy="19979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Fatigue crashes are uniquely severe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No braking, no evasive action — drivers who fall asleep often don't react at all.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1691640"/>
            <a:ext cx="5455767" cy="221742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4175" y="184708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8807" y="1801368"/>
            <a:ext cx="4587087" cy="19979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Distraction is just as dangerous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A driver can be wide awake and still look away from the road for critical seconds.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137660"/>
            <a:ext cx="5455767" cy="221742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429310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247388"/>
            <a:ext cx="4587087" cy="19979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Existing solutions fall short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Specialized sensors are expensive; wearables are intrusive and often skipped.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4137660"/>
            <a:ext cx="5455767" cy="221742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34175" y="429310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8807" y="4247388"/>
            <a:ext cx="4587087" cy="19979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A camera-only gap remains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Need a low-cost system that runs on a standard webcam and ordinary hardware.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noFill/>
          <a:ln w="177800">
            <a:solidFill>
              <a:srgbClr val="E6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292608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0F6E5A"/>
                </a:solidFill>
                <a:latin typeface="Segoe UI"/>
              </a:rPr>
              <a:t>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2"/>
            <a:ext cx="92656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 i="0">
                <a:solidFill>
                  <a:srgbClr val="E3A01E"/>
                </a:solidFill>
                <a:latin typeface="Segoe UI"/>
              </a:rPr>
              <a:t>GOALS</a:t>
            </a:r>
          </a:p>
          <a:p>
            <a:r>
              <a:rPr sz="2500" b="1" i="0">
                <a:solidFill>
                  <a:srgbClr val="FFFFFF"/>
                </a:solidFill>
                <a:latin typeface="Segoe UI"/>
              </a:rPr>
              <a:t>Project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E6F3F0"/>
                </a:solidFill>
                <a:latin typeface="Segoe UI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DRIVER FATIGUE &amp; DISTRACTION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04 / 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691640"/>
            <a:ext cx="11140135" cy="74980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9808" y="184708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801368"/>
            <a:ext cx="10271455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Real-time, webcam-only monitoring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No specialized hardware — works on a standard laptop camera.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670048"/>
            <a:ext cx="11140135" cy="74980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2825496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779776"/>
            <a:ext cx="10271455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Independent risk signals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Track eye closure and head orientation as two separate, honest measurements.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648456"/>
            <a:ext cx="11140135" cy="74980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3803904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758184"/>
            <a:ext cx="10271455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Low false-positive design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Calibration + temporal confirmation so blinks and glances don't cry wolf.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626864"/>
            <a:ext cx="11140135" cy="74980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9808" y="4782312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736592"/>
            <a:ext cx="10271455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A usable, live dashboard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Not a console script — a real desktop application someone could actually use.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605272"/>
            <a:ext cx="11140135" cy="749808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49808" y="5760720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715000"/>
            <a:ext cx="10271455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A believable real-world payoff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Show the detection driving an actual simulated vehicle's behavior.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51215" y="2834640"/>
            <a:ext cx="5486400" cy="548640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91295" y="3474721"/>
            <a:ext cx="4206240" cy="420624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85656" y="4069080"/>
            <a:ext cx="3017520" cy="301752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0" b="1" i="0">
                <a:solidFill>
                  <a:srgbClr val="1F937C"/>
                </a:solidFill>
                <a:latin typeface="Segoe UI Light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4612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Segoe UI"/>
              </a:rPr>
              <a:t>System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16052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6F3F0"/>
                </a:solidFill>
                <a:latin typeface="Segoe UI"/>
              </a:rPr>
              <a:t>How the pipeline is put together, end to 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4023360"/>
            <a:ext cx="1280160" cy="38100"/>
          </a:xfrm>
          <a:prstGeom prst="rect">
            <a:avLst/>
          </a:prstGeom>
          <a:solidFill>
            <a:srgbClr val="E3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noFill/>
          <a:ln w="177800">
            <a:solidFill>
              <a:srgbClr val="E6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292608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0F6E5A"/>
                </a:solidFill>
                <a:latin typeface="Segoe UI"/>
              </a:rPr>
              <a:t>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2"/>
            <a:ext cx="92656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 i="0">
                <a:solidFill>
                  <a:srgbClr val="E3A01E"/>
                </a:solidFill>
                <a:latin typeface="Segoe UI"/>
              </a:rPr>
              <a:t>ARCHITECTURE</a:t>
            </a:r>
          </a:p>
          <a:p>
            <a:r>
              <a:rPr sz="2500" b="1" i="0">
                <a:solidFill>
                  <a:srgbClr val="FFFFFF"/>
                </a:solidFill>
                <a:latin typeface="Segoe UI"/>
              </a:rPr>
              <a:t>System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E6F3F0"/>
                </a:solidFill>
                <a:latin typeface="Segoe UI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DRIVER FATIGUE &amp; DISTRACTION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06 / 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691640"/>
            <a:ext cx="2407843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F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 i="0">
                <a:solidFill>
                  <a:srgbClr val="0A4237"/>
                </a:solidFill>
                <a:latin typeface="Segoe UI"/>
              </a:rPr>
              <a:t>Webcam Capture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5B636E"/>
                </a:solidFill>
                <a:latin typeface="Segoe UI"/>
              </a:rPr>
              <a:t>OpenCV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038779" y="2176272"/>
            <a:ext cx="384048" cy="219456"/>
          </a:xfrm>
          <a:prstGeom prst="rightArrow">
            <a:avLst/>
          </a:prstGeom>
          <a:solidFill>
            <a:srgbClr val="E3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59403" y="1691640"/>
            <a:ext cx="2407843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F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 i="0">
                <a:solidFill>
                  <a:srgbClr val="0A4237"/>
                </a:solidFill>
                <a:latin typeface="Segoe UI"/>
              </a:rPr>
              <a:t>Face Mesh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5B636E"/>
                </a:solidFill>
                <a:latin typeface="Segoe UI"/>
              </a:rPr>
              <a:t>MediaPipe, 468 pts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03823" y="2176272"/>
            <a:ext cx="384048" cy="219456"/>
          </a:xfrm>
          <a:prstGeom prst="rightArrow">
            <a:avLst/>
          </a:prstGeom>
          <a:solidFill>
            <a:srgbClr val="E3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24447" y="1691640"/>
            <a:ext cx="2407843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F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 i="0">
                <a:solidFill>
                  <a:srgbClr val="0A4237"/>
                </a:solidFill>
                <a:latin typeface="Segoe UI"/>
              </a:rPr>
              <a:t>Eye ROI + CNN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5B636E"/>
                </a:solidFill>
                <a:latin typeface="Segoe UI"/>
              </a:rPr>
              <a:t>Open / Closed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768867" y="2176272"/>
            <a:ext cx="384048" cy="219456"/>
          </a:xfrm>
          <a:prstGeom prst="rightArrow">
            <a:avLst/>
          </a:prstGeom>
          <a:solidFill>
            <a:srgbClr val="E3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89491" y="1691640"/>
            <a:ext cx="2407843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F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 i="0">
                <a:solidFill>
                  <a:srgbClr val="0A4237"/>
                </a:solidFill>
                <a:latin typeface="Segoe UI"/>
              </a:rPr>
              <a:t>Head Pose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5B636E"/>
                </a:solidFill>
                <a:latin typeface="Segoe UI"/>
              </a:rPr>
              <a:t>solvePnP: yaw/pitch/roll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520440"/>
            <a:ext cx="2407843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F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 i="0">
                <a:solidFill>
                  <a:srgbClr val="0A4237"/>
                </a:solidFill>
                <a:latin typeface="Segoe UI"/>
              </a:rPr>
              <a:t>Drowsiness Logic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5B636E"/>
                </a:solidFill>
                <a:latin typeface="Segoe UI"/>
              </a:rPr>
              <a:t>15-frame rule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038779" y="4005072"/>
            <a:ext cx="384048" cy="219456"/>
          </a:xfrm>
          <a:prstGeom prst="rightArrow">
            <a:avLst/>
          </a:prstGeom>
          <a:solidFill>
            <a:srgbClr val="E3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59403" y="3520440"/>
            <a:ext cx="2407843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F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 i="0">
                <a:solidFill>
                  <a:srgbClr val="0A4237"/>
                </a:solidFill>
                <a:latin typeface="Segoe UI"/>
              </a:rPr>
              <a:t>Attention Logic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5B636E"/>
                </a:solidFill>
                <a:latin typeface="Segoe UI"/>
              </a:rPr>
              <a:t>Calibrated + timed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903823" y="4005072"/>
            <a:ext cx="384048" cy="219456"/>
          </a:xfrm>
          <a:prstGeom prst="rightArrow">
            <a:avLst/>
          </a:prstGeom>
          <a:solidFill>
            <a:srgbClr val="E3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24447" y="3520440"/>
            <a:ext cx="2407843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F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 i="0">
                <a:solidFill>
                  <a:srgbClr val="0A4237"/>
                </a:solidFill>
                <a:latin typeface="Segoe UI"/>
              </a:rPr>
              <a:t>Dashboard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5B636E"/>
                </a:solidFill>
                <a:latin typeface="Segoe UI"/>
              </a:rPr>
              <a:t>Tkinter live UI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768867" y="4005072"/>
            <a:ext cx="384048" cy="219456"/>
          </a:xfrm>
          <a:prstGeom prst="rightArrow">
            <a:avLst/>
          </a:prstGeom>
          <a:solidFill>
            <a:srgbClr val="E3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89491" y="3520440"/>
            <a:ext cx="2407843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F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 i="0">
                <a:solidFill>
                  <a:srgbClr val="0A4237"/>
                </a:solidFill>
                <a:latin typeface="Segoe UI"/>
              </a:rPr>
              <a:t>Vehicle Response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5B636E"/>
                </a:solidFill>
                <a:latin typeface="Segoe UI"/>
              </a:rPr>
              <a:t>CARLA / fallback sim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11094415" y="2862072"/>
            <a:ext cx="274320" cy="676656"/>
          </a:xfrm>
          <a:prstGeom prst="downArrow">
            <a:avLst/>
          </a:prstGeom>
          <a:solidFill>
            <a:srgbClr val="148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532120"/>
            <a:ext cx="110029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5B636E"/>
                </a:solidFill>
                <a:latin typeface="Segoe UI"/>
              </a:rPr>
              <a:t>Two independent signals — eye closure and head pose — run in parallel on the same camera feed and are combined into a Driver State without ever being blurred into one score.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noFill/>
          <a:ln w="177800">
            <a:solidFill>
              <a:srgbClr val="E6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292608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0F6E5A"/>
                </a:solidFill>
                <a:latin typeface="Segoe UI"/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2"/>
            <a:ext cx="92656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 i="0">
                <a:solidFill>
                  <a:srgbClr val="E3A01E"/>
                </a:solidFill>
                <a:latin typeface="Segoe UI"/>
              </a:rPr>
              <a:t>STACK</a:t>
            </a:r>
          </a:p>
          <a:p>
            <a:r>
              <a:rPr sz="2500" b="1" i="0">
                <a:solidFill>
                  <a:srgbClr val="FFFFFF"/>
                </a:solidFill>
                <a:latin typeface="Segoe UI"/>
              </a:rPr>
              <a:t>Technology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E6F3F0"/>
                </a:solidFill>
                <a:latin typeface="Segoe UI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DRIVER FATIGUE &amp; DISTRACTION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07 / 26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1600200"/>
          <a:ext cx="1100297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7658"/>
                <a:gridCol w="3667658"/>
                <a:gridCol w="3667659"/>
              </a:tblGrid>
              <a:tr h="497840">
                <a:tc>
                  <a:txBody>
                    <a:bodyPr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Component</a:t>
                      </a:r>
                    </a:p>
                  </a:txBody>
                  <a:tcPr marT="101600" marB="101600">
                    <a:solidFill>
                      <a:srgbClr val="0F6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Technology</a:t>
                      </a:r>
                    </a:p>
                  </a:txBody>
                  <a:tcPr marT="101600" marB="101600">
                    <a:solidFill>
                      <a:srgbClr val="0F6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Role</a:t>
                      </a:r>
                    </a:p>
                  </a:txBody>
                  <a:tcPr marT="101600" marB="101600">
                    <a:solidFill>
                      <a:srgbClr val="0F6E5A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Object Detection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YOLOv8 (Ultralytics)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Face detector, transfer-learned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Facial Landmarks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MediaPipe Face Mesh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468-point pretrained landmark model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Eye Classifier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PyTorch — Custom CNN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Open/closed classification, trained from scratch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Head Pose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OpenCV solvePnP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Yaw / pitch / roll from 6 landmarks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Desktop UI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Tkinter + Pillow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Live dashboard rendering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Audio Alerting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Pygame Mixer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Looped drowsiness alarm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Vehicle Simulation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CARLA 0.9.16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Real-world use-case demonstration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Acceleration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CUDA GPU / CPU fallback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Automatic device selection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noFill/>
          <a:ln w="177800">
            <a:solidFill>
              <a:srgbClr val="E6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292608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0F6E5A"/>
                </a:solidFill>
                <a:latin typeface="Segoe UI"/>
              </a:rPr>
              <a:t>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2"/>
            <a:ext cx="92656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 i="0">
                <a:solidFill>
                  <a:srgbClr val="E3A01E"/>
                </a:solidFill>
                <a:latin typeface="Segoe UI"/>
              </a:rPr>
              <a:t>CORE COMPONENT</a:t>
            </a:r>
          </a:p>
          <a:p>
            <a:r>
              <a:rPr sz="2500" b="1" i="0">
                <a:solidFill>
                  <a:srgbClr val="FFFFFF"/>
                </a:solidFill>
                <a:latin typeface="Segoe UI"/>
              </a:rPr>
              <a:t>MediaPipe Face Mesh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E6F3F0"/>
                </a:solidFill>
                <a:latin typeface="Segoe UI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DRIVER FATIGUE &amp; DISTRACTION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08 / 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737360"/>
            <a:ext cx="5455767" cy="219456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9808" y="189280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847088"/>
            <a:ext cx="4587087" cy="1975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468-point facial landmark model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A pretrained model from Google — not trained as part of this project.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1737360"/>
            <a:ext cx="5455767" cy="219456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4175" y="189280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8807" y="1847088"/>
            <a:ext cx="4587087" cy="1975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Feeds both detection pipelines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The same landmark set crops each eye AND supplies the 6 points solvePnP uses for head pose.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160520"/>
            <a:ext cx="5455767" cy="219456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431596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270248"/>
            <a:ext cx="4587087" cy="1975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Real-time on CPU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Light enough to run every single frame without needing a GPU, unlike the CNN and YOLO models.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4160520"/>
            <a:ext cx="5455767" cy="219456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34175" y="431596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8807" y="4270248"/>
            <a:ext cx="4587087" cy="1975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A deliberate engineering choice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Landmark detection at this accuracy needs huge datasets — reusing a proven pretrained model beats reinventing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noFill/>
          <a:ln w="177800">
            <a:solidFill>
              <a:srgbClr val="E6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292608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0F6E5A"/>
                </a:solidFill>
                <a:latin typeface="Segoe UI"/>
              </a:rPr>
              <a:t>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2"/>
            <a:ext cx="92656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 i="0">
                <a:solidFill>
                  <a:srgbClr val="E3A01E"/>
                </a:solidFill>
                <a:latin typeface="Segoe UI"/>
              </a:rPr>
              <a:t>DATA</a:t>
            </a:r>
          </a:p>
          <a:p>
            <a:r>
              <a:rPr sz="2500" b="1" i="0">
                <a:solidFill>
                  <a:srgbClr val="FFFFFF"/>
                </a:solidFill>
                <a:latin typeface="Segoe UI"/>
              </a:rPr>
              <a:t>Dataset — Face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E6F3F0"/>
                </a:solidFill>
                <a:latin typeface="Segoe UI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DRIVER FATIGUE &amp; DISTRACTION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09 / 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737360"/>
            <a:ext cx="2558719" cy="1417320"/>
          </a:xfrm>
          <a:prstGeom prst="roundRect">
            <a:avLst>
              <a:gd name="adj" fmla="val 8000"/>
            </a:avLst>
          </a:prstGeom>
          <a:solidFill>
            <a:srgbClr val="E6F3F0"/>
          </a:solidFill>
          <a:ln w="12700">
            <a:solidFill>
              <a:srgbClr val="148F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700" b="1" i="0">
                <a:solidFill>
                  <a:srgbClr val="0A4237"/>
                </a:solidFill>
                <a:latin typeface="Segoe UI"/>
              </a:rPr>
              <a:t>13,386</a:t>
            </a:r>
          </a:p>
          <a:p>
            <a:pPr algn="ctr">
              <a:spcBef>
                <a:spcPts val="200"/>
              </a:spcBef>
            </a:pPr>
            <a:r>
              <a:rPr sz="1000" b="1" i="0">
                <a:solidFill>
                  <a:srgbClr val="148F76"/>
                </a:solidFill>
                <a:latin typeface="Segoe UI"/>
              </a:rPr>
              <a:t>TRAINING IMAGES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9111" y="1737360"/>
            <a:ext cx="2558719" cy="1417320"/>
          </a:xfrm>
          <a:prstGeom prst="roundRect">
            <a:avLst>
              <a:gd name="adj" fmla="val 8000"/>
            </a:avLst>
          </a:prstGeom>
          <a:solidFill>
            <a:srgbClr val="E6F3F0"/>
          </a:solidFill>
          <a:ln w="12700">
            <a:solidFill>
              <a:srgbClr val="148F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700" b="1" i="0">
                <a:solidFill>
                  <a:srgbClr val="0A4237"/>
                </a:solidFill>
                <a:latin typeface="Segoe UI"/>
              </a:rPr>
              <a:t>3,347</a:t>
            </a:r>
          </a:p>
          <a:p>
            <a:pPr algn="ctr">
              <a:spcBef>
                <a:spcPts val="200"/>
              </a:spcBef>
            </a:pPr>
            <a:r>
              <a:rPr sz="1000" b="1" i="0">
                <a:solidFill>
                  <a:srgbClr val="148F76"/>
                </a:solidFill>
                <a:latin typeface="Segoe UI"/>
              </a:rPr>
              <a:t>VALIDATION IMAGES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3863" y="1737360"/>
            <a:ext cx="2558719" cy="1417320"/>
          </a:xfrm>
          <a:prstGeom prst="roundRect">
            <a:avLst>
              <a:gd name="adj" fmla="val 8000"/>
            </a:avLst>
          </a:prstGeom>
          <a:solidFill>
            <a:srgbClr val="E6F3F0"/>
          </a:solidFill>
          <a:ln w="12700">
            <a:solidFill>
              <a:srgbClr val="148F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700" b="1" i="0">
                <a:solidFill>
                  <a:srgbClr val="0A4237"/>
                </a:solidFill>
                <a:latin typeface="Segoe UI"/>
              </a:rPr>
              <a:t>1</a:t>
            </a:r>
          </a:p>
          <a:p>
            <a:pPr algn="ctr">
              <a:spcBef>
                <a:spcPts val="200"/>
              </a:spcBef>
            </a:pPr>
            <a:r>
              <a:rPr sz="1000" b="1" i="0">
                <a:solidFill>
                  <a:srgbClr val="148F76"/>
                </a:solidFill>
                <a:latin typeface="Segoe UI"/>
              </a:rPr>
              <a:t>CLASS: FACE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38615" y="1737360"/>
            <a:ext cx="2558719" cy="1417320"/>
          </a:xfrm>
          <a:prstGeom prst="roundRect">
            <a:avLst>
              <a:gd name="adj" fmla="val 8000"/>
            </a:avLst>
          </a:prstGeom>
          <a:solidFill>
            <a:srgbClr val="E6F3F0"/>
          </a:solidFill>
          <a:ln w="12700">
            <a:solidFill>
              <a:srgbClr val="148F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700" b="1" i="0">
                <a:solidFill>
                  <a:srgbClr val="0A4237"/>
                </a:solidFill>
                <a:latin typeface="Segoe UI"/>
              </a:rPr>
              <a:t>YOLO</a:t>
            </a:r>
          </a:p>
          <a:p>
            <a:pPr algn="ctr">
              <a:spcBef>
                <a:spcPts val="200"/>
              </a:spcBef>
            </a:pPr>
            <a:r>
              <a:rPr sz="1000" b="1" i="0">
                <a:solidFill>
                  <a:srgbClr val="148F76"/>
                </a:solidFill>
                <a:latin typeface="Segoe UI"/>
              </a:rPr>
              <a:t>LABEL FORMAT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429000"/>
            <a:ext cx="11140135" cy="79248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358444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538728"/>
            <a:ext cx="10271455" cy="573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YOLO-format bounding boxes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Normalized coordinates, one label file per image.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450080"/>
            <a:ext cx="11140135" cy="79248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9808" y="460552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559808"/>
            <a:ext cx="10271455" cy="573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Organized train/val split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dataset/faces/images and labels, split for honest evaluation.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471160"/>
            <a:ext cx="11140135" cy="79248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9808" y="562660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580888"/>
            <a:ext cx="10271455" cy="573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Fine-tuned via transfer learning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Specializes a COCO-pretrained YOLOv8n for the single face class.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noFill/>
          <a:ln w="177800">
            <a:solidFill>
              <a:srgbClr val="E6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292608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0F6E5A"/>
                </a:solidFill>
                <a:latin typeface="Segoe UI"/>
              </a:rPr>
              <a:t>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2"/>
            <a:ext cx="92656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 i="0">
                <a:solidFill>
                  <a:srgbClr val="E3A01E"/>
                </a:solidFill>
                <a:latin typeface="Segoe UI"/>
              </a:rPr>
              <a:t>DATA</a:t>
            </a:r>
          </a:p>
          <a:p>
            <a:r>
              <a:rPr sz="2500" b="1" i="0">
                <a:solidFill>
                  <a:srgbClr val="FFFFFF"/>
                </a:solidFill>
                <a:latin typeface="Segoe UI"/>
              </a:rPr>
              <a:t>Dataset — Eye State 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E6F3F0"/>
                </a:solidFill>
                <a:latin typeface="Segoe U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DRIVER FATIGUE &amp; DISTRACTION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10 / 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737360"/>
            <a:ext cx="2558719" cy="1417320"/>
          </a:xfrm>
          <a:prstGeom prst="roundRect">
            <a:avLst>
              <a:gd name="adj" fmla="val 8000"/>
            </a:avLst>
          </a:prstGeom>
          <a:solidFill>
            <a:srgbClr val="E6F3F0"/>
          </a:solidFill>
          <a:ln w="12700">
            <a:solidFill>
              <a:srgbClr val="148F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700" b="1" i="0">
                <a:solidFill>
                  <a:srgbClr val="0A4237"/>
                </a:solidFill>
                <a:latin typeface="Segoe UI"/>
              </a:rPr>
              <a:t>24,000</a:t>
            </a:r>
          </a:p>
          <a:p>
            <a:pPr algn="ctr">
              <a:spcBef>
                <a:spcPts val="200"/>
              </a:spcBef>
            </a:pPr>
            <a:r>
              <a:rPr sz="1000" b="1" i="0">
                <a:solidFill>
                  <a:srgbClr val="148F76"/>
                </a:solidFill>
                <a:latin typeface="Segoe UI"/>
              </a:rPr>
              <a:t>CLOSED-EYE IMAGES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9111" y="1737360"/>
            <a:ext cx="2558719" cy="1417320"/>
          </a:xfrm>
          <a:prstGeom prst="roundRect">
            <a:avLst>
              <a:gd name="adj" fmla="val 8000"/>
            </a:avLst>
          </a:prstGeom>
          <a:solidFill>
            <a:srgbClr val="E6F3F0"/>
          </a:solidFill>
          <a:ln w="12700">
            <a:solidFill>
              <a:srgbClr val="148F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700" b="1" i="0">
                <a:solidFill>
                  <a:srgbClr val="0A4237"/>
                </a:solidFill>
                <a:latin typeface="Segoe UI"/>
              </a:rPr>
              <a:t>23,893</a:t>
            </a:r>
          </a:p>
          <a:p>
            <a:pPr algn="ctr">
              <a:spcBef>
                <a:spcPts val="200"/>
              </a:spcBef>
            </a:pPr>
            <a:r>
              <a:rPr sz="1000" b="1" i="0">
                <a:solidFill>
                  <a:srgbClr val="148F76"/>
                </a:solidFill>
                <a:latin typeface="Segoe UI"/>
              </a:rPr>
              <a:t>OPEN-EYE IMAGES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3863" y="1737360"/>
            <a:ext cx="2558719" cy="1417320"/>
          </a:xfrm>
          <a:prstGeom prst="roundRect">
            <a:avLst>
              <a:gd name="adj" fmla="val 8000"/>
            </a:avLst>
          </a:prstGeom>
          <a:solidFill>
            <a:srgbClr val="E6F3F0"/>
          </a:solidFill>
          <a:ln w="12700">
            <a:solidFill>
              <a:srgbClr val="148F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700" b="1" i="0">
                <a:solidFill>
                  <a:srgbClr val="0A4237"/>
                </a:solidFill>
                <a:latin typeface="Segoe UI"/>
              </a:rPr>
              <a:t>47,893</a:t>
            </a:r>
          </a:p>
          <a:p>
            <a:pPr algn="ctr">
              <a:spcBef>
                <a:spcPts val="200"/>
              </a:spcBef>
            </a:pPr>
            <a:r>
              <a:rPr sz="1000" b="1" i="0">
                <a:solidFill>
                  <a:srgbClr val="148F76"/>
                </a:solidFill>
                <a:latin typeface="Segoe UI"/>
              </a:rPr>
              <a:t>TOTAL (BALANCED)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38615" y="1737360"/>
            <a:ext cx="2558719" cy="1417320"/>
          </a:xfrm>
          <a:prstGeom prst="roundRect">
            <a:avLst>
              <a:gd name="adj" fmla="val 8000"/>
            </a:avLst>
          </a:prstGeom>
          <a:solidFill>
            <a:srgbClr val="E6F3F0"/>
          </a:solidFill>
          <a:ln w="12700">
            <a:solidFill>
              <a:srgbClr val="148F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700" b="1" i="0">
                <a:solidFill>
                  <a:srgbClr val="0A4237"/>
                </a:solidFill>
                <a:latin typeface="Segoe UI"/>
              </a:rPr>
              <a:t>2</a:t>
            </a:r>
          </a:p>
          <a:p>
            <a:pPr algn="ctr">
              <a:spcBef>
                <a:spcPts val="200"/>
              </a:spcBef>
            </a:pPr>
            <a:r>
              <a:rPr sz="1000" b="1" i="0">
                <a:solidFill>
                  <a:srgbClr val="148F76"/>
                </a:solidFill>
                <a:latin typeface="Segoe UI"/>
              </a:rPr>
              <a:t>CLASSES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429000"/>
            <a:ext cx="11140135" cy="79248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358444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538728"/>
            <a:ext cx="10271455" cy="573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Near-perfectly balanced classes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No class-imbalance correction needed for training.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450080"/>
            <a:ext cx="11140135" cy="79248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9808" y="460552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559808"/>
            <a:ext cx="10271455" cy="573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PyTorch ImageFolder format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Two class folders — open/ and closed/ — under dataset/eyes/.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471160"/>
            <a:ext cx="11140135" cy="79248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9808" y="562660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580888"/>
            <a:ext cx="10271455" cy="573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Powers the from-scratch CNN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Used to train EyeCNN, the core drowsiness-detection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51215" y="2834640"/>
            <a:ext cx="5486400" cy="548640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91295" y="3474721"/>
            <a:ext cx="4206240" cy="420624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85656" y="4069080"/>
            <a:ext cx="3017520" cy="301752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0" b="1" i="0">
                <a:solidFill>
                  <a:srgbClr val="1F937C"/>
                </a:solidFill>
                <a:latin typeface="Segoe UI Light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4612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Segoe UI"/>
              </a:rPr>
              <a:t>The Two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16052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6F3F0"/>
                </a:solidFill>
                <a:latin typeface="Segoe UI"/>
              </a:rPr>
              <a:t>Transfer learning for faces, a from-scratch CNN for eyes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4023360"/>
            <a:ext cx="1280160" cy="38100"/>
          </a:xfrm>
          <a:prstGeom prst="rect">
            <a:avLst/>
          </a:prstGeom>
          <a:solidFill>
            <a:srgbClr val="E3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noFill/>
          <a:ln w="177800">
            <a:solidFill>
              <a:srgbClr val="E6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292608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0F6E5A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2"/>
            <a:ext cx="92656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 i="0">
                <a:solidFill>
                  <a:srgbClr val="E3A01E"/>
                </a:solidFill>
                <a:latin typeface="Segoe UI"/>
              </a:rPr>
              <a:t>MODEL 1</a:t>
            </a:r>
          </a:p>
          <a:p>
            <a:r>
              <a:rPr sz="2500" b="1" i="0">
                <a:solidFill>
                  <a:srgbClr val="FFFFFF"/>
                </a:solidFill>
                <a:latin typeface="Segoe UI"/>
              </a:rPr>
              <a:t>YOLOv8n Face Detector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E6F3F0"/>
                </a:solidFill>
                <a:latin typeface="Segoe U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DRIVER FATIGUE &amp; DISTRACTION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12 / 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737360"/>
            <a:ext cx="5455767" cy="219456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9808" y="189280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847088"/>
            <a:ext cx="4587087" cy="1975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Base model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yolov8n.pt — the COCO-pretrained nano YOLOv8 variant.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1737360"/>
            <a:ext cx="5455767" cy="219456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4175" y="189280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8807" y="1847088"/>
            <a:ext cx="4587087" cy="1975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Transfer learning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Fine-tuned on the project's own face dataset, not trained from scratch.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160520"/>
            <a:ext cx="5455767" cy="219456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431596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270248"/>
            <a:ext cx="4587087" cy="1975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Why nano?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Chosen specifically for real-time speed on modest, non-server hardware.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4160520"/>
            <a:ext cx="5455767" cy="219456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34175" y="431596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8807" y="4270248"/>
            <a:ext cx="4587087" cy="1975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Training script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training/train_face_detector.py, using the Ultralytics Python API.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noFill/>
          <a:ln w="177800">
            <a:solidFill>
              <a:srgbClr val="E6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292608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0F6E5A"/>
                </a:solidFill>
                <a:latin typeface="Segoe UI"/>
              </a:rPr>
              <a:t>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2"/>
            <a:ext cx="92656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 i="0">
                <a:solidFill>
                  <a:srgbClr val="E3A01E"/>
                </a:solidFill>
                <a:latin typeface="Segoe UI"/>
              </a:rPr>
              <a:t>MODEL 1</a:t>
            </a:r>
          </a:p>
          <a:p>
            <a:r>
              <a:rPr sz="2500" b="1" i="0">
                <a:solidFill>
                  <a:srgbClr val="FFFFFF"/>
                </a:solidFill>
                <a:latin typeface="Segoe UI"/>
              </a:rPr>
              <a:t>Training Configuration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E6F3F0"/>
                </a:solidFill>
                <a:latin typeface="Segoe U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DRIVER FATIGUE &amp; DISTRACTION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13 / 26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1600200"/>
          <a:ext cx="1100297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1487"/>
                <a:gridCol w="5501488"/>
              </a:tblGrid>
              <a:tr h="548640">
                <a:tc>
                  <a:txBody>
                    <a:bodyPr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Hyperparameter</a:t>
                      </a:r>
                    </a:p>
                  </a:txBody>
                  <a:tcPr marT="101600" marB="101600">
                    <a:solidFill>
                      <a:srgbClr val="0F6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Value</a:t>
                      </a:r>
                    </a:p>
                  </a:txBody>
                  <a:tcPr marT="101600" marB="101600">
                    <a:solidFill>
                      <a:srgbClr val="0F6E5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Base Weights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yolov8n.pt (COCO-pretrained)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Epochs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50 (early-stop patience = 10 — not triggered)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Image Size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640 x 640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Batch Size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Optimizer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Auto-selected, lr0 = 0.01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Augmentations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Mosaic, HSV jitter, horizontal flip, translate/scale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Device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GPU (CUDA)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noFill/>
          <a:ln w="177800">
            <a:solidFill>
              <a:srgbClr val="E6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292608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0F6E5A"/>
                </a:solidFill>
                <a:latin typeface="Segoe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2"/>
            <a:ext cx="92656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 i="0">
                <a:solidFill>
                  <a:srgbClr val="E3A01E"/>
                </a:solidFill>
                <a:latin typeface="Segoe UI"/>
              </a:rPr>
              <a:t>MODEL 1</a:t>
            </a:r>
          </a:p>
          <a:p>
            <a:r>
              <a:rPr sz="2500" b="1" i="0">
                <a:solidFill>
                  <a:srgbClr val="FFFFFF"/>
                </a:solidFill>
                <a:latin typeface="Segoe UI"/>
              </a:rPr>
              <a:t>Results — Final Epoch (49/50)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E6F3F0"/>
                </a:solidFill>
                <a:latin typeface="Segoe U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DRIVER FATIGUE &amp; DISTRACTION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14 / 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737360"/>
            <a:ext cx="2558719" cy="1417320"/>
          </a:xfrm>
          <a:prstGeom prst="roundRect">
            <a:avLst>
              <a:gd name="adj" fmla="val 8000"/>
            </a:avLst>
          </a:prstGeom>
          <a:solidFill>
            <a:srgbClr val="E6F3F0"/>
          </a:solidFill>
          <a:ln w="12700">
            <a:solidFill>
              <a:srgbClr val="148F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700" b="1" i="0">
                <a:solidFill>
                  <a:srgbClr val="0A4237"/>
                </a:solidFill>
                <a:latin typeface="Segoe UI"/>
              </a:rPr>
              <a:t>0.90</a:t>
            </a:r>
          </a:p>
          <a:p>
            <a:pPr algn="ctr">
              <a:spcBef>
                <a:spcPts val="200"/>
              </a:spcBef>
            </a:pPr>
            <a:r>
              <a:rPr sz="1000" b="1" i="0">
                <a:solidFill>
                  <a:srgbClr val="148F76"/>
                </a:solidFill>
                <a:latin typeface="Segoe UI"/>
              </a:rPr>
              <a:t>PRECISION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9111" y="1737360"/>
            <a:ext cx="2558719" cy="1417320"/>
          </a:xfrm>
          <a:prstGeom prst="roundRect">
            <a:avLst>
              <a:gd name="adj" fmla="val 8000"/>
            </a:avLst>
          </a:prstGeom>
          <a:solidFill>
            <a:srgbClr val="E6F3F0"/>
          </a:solidFill>
          <a:ln w="12700">
            <a:solidFill>
              <a:srgbClr val="148F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700" b="1" i="0">
                <a:solidFill>
                  <a:srgbClr val="0A4237"/>
                </a:solidFill>
                <a:latin typeface="Segoe UI"/>
              </a:rPr>
              <a:t>0.81</a:t>
            </a:r>
          </a:p>
          <a:p>
            <a:pPr algn="ctr">
              <a:spcBef>
                <a:spcPts val="200"/>
              </a:spcBef>
            </a:pPr>
            <a:r>
              <a:rPr sz="1000" b="1" i="0">
                <a:solidFill>
                  <a:srgbClr val="148F76"/>
                </a:solidFill>
                <a:latin typeface="Segoe UI"/>
              </a:rPr>
              <a:t>RECALL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3863" y="1737360"/>
            <a:ext cx="2558719" cy="1417320"/>
          </a:xfrm>
          <a:prstGeom prst="roundRect">
            <a:avLst>
              <a:gd name="adj" fmla="val 8000"/>
            </a:avLst>
          </a:prstGeom>
          <a:solidFill>
            <a:srgbClr val="E6F3F0"/>
          </a:solidFill>
          <a:ln w="12700">
            <a:solidFill>
              <a:srgbClr val="148F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700" b="1" i="0">
                <a:solidFill>
                  <a:srgbClr val="0A4237"/>
                </a:solidFill>
                <a:latin typeface="Segoe UI"/>
              </a:rPr>
              <a:t>0.88</a:t>
            </a:r>
          </a:p>
          <a:p>
            <a:pPr algn="ctr">
              <a:spcBef>
                <a:spcPts val="200"/>
              </a:spcBef>
            </a:pPr>
            <a:r>
              <a:rPr sz="1000" b="1" i="0">
                <a:solidFill>
                  <a:srgbClr val="148F76"/>
                </a:solidFill>
                <a:latin typeface="Segoe UI"/>
              </a:rPr>
              <a:t>MAP@50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38615" y="1737360"/>
            <a:ext cx="2558719" cy="1417320"/>
          </a:xfrm>
          <a:prstGeom prst="roundRect">
            <a:avLst>
              <a:gd name="adj" fmla="val 8000"/>
            </a:avLst>
          </a:prstGeom>
          <a:solidFill>
            <a:srgbClr val="E6F3F0"/>
          </a:solidFill>
          <a:ln w="12700">
            <a:solidFill>
              <a:srgbClr val="148F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700" b="1" i="0">
                <a:solidFill>
                  <a:srgbClr val="0A4237"/>
                </a:solidFill>
                <a:latin typeface="Segoe UI"/>
              </a:rPr>
              <a:t>0.59</a:t>
            </a:r>
          </a:p>
          <a:p>
            <a:pPr algn="ctr">
              <a:spcBef>
                <a:spcPts val="200"/>
              </a:spcBef>
            </a:pPr>
            <a:r>
              <a:rPr sz="1000" b="1" i="0">
                <a:solidFill>
                  <a:srgbClr val="148F76"/>
                </a:solidFill>
                <a:latin typeface="Segoe UI"/>
              </a:rPr>
              <a:t>MAP@50-95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98367" y="3154680"/>
            <a:ext cx="5394960" cy="2788920"/>
          </a:xfrm>
          <a:prstGeom prst="roundRect">
            <a:avLst/>
          </a:prstGeom>
          <a:solidFill>
            <a:srgbClr val="F6F9F8"/>
          </a:solidFill>
          <a:ln w="12700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9807" y="3246120"/>
            <a:ext cx="521208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noFill/>
          <a:ln w="177800">
            <a:solidFill>
              <a:srgbClr val="E6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292608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0F6E5A"/>
                </a:solidFill>
                <a:latin typeface="Segoe UI"/>
              </a:rPr>
              <a:t>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2"/>
            <a:ext cx="92656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 i="0">
                <a:solidFill>
                  <a:srgbClr val="E3A01E"/>
                </a:solidFill>
                <a:latin typeface="Segoe UI"/>
              </a:rPr>
              <a:t>MODEL 1</a:t>
            </a:r>
          </a:p>
          <a:p>
            <a:r>
              <a:rPr sz="2500" b="1" i="0">
                <a:solidFill>
                  <a:srgbClr val="FFFFFF"/>
                </a:solidFill>
                <a:latin typeface="Segoe UI"/>
              </a:rPr>
              <a:t>Confusion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E6F3F0"/>
                </a:solidFill>
                <a:latin typeface="Segoe U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DRIVER FATIGUE &amp; DISTRACTION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15 / 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20999" y="1490472"/>
            <a:ext cx="5949696" cy="4517136"/>
          </a:xfrm>
          <a:prstGeom prst="roundRect">
            <a:avLst>
              <a:gd name="adj" fmla="val 3000"/>
            </a:avLst>
          </a:prstGeom>
          <a:solidFill>
            <a:srgbClr val="F6F9F8"/>
          </a:solidFill>
          <a:ln w="12700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727" y="1600200"/>
            <a:ext cx="5730240" cy="4297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4360" y="6099048"/>
            <a:ext cx="110029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5B636E"/>
                </a:solidFill>
                <a:latin typeface="Segoe UI"/>
              </a:rPr>
              <a:t>Validation-set confusion matrix for the fine-tuned face detector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noFill/>
          <a:ln w="177800">
            <a:solidFill>
              <a:srgbClr val="E6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292608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0F6E5A"/>
                </a:solidFill>
                <a:latin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2"/>
            <a:ext cx="92656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 i="0">
                <a:solidFill>
                  <a:srgbClr val="E3A01E"/>
                </a:solidFill>
                <a:latin typeface="Segoe UI"/>
              </a:rPr>
              <a:t>MODEL 2</a:t>
            </a:r>
          </a:p>
          <a:p>
            <a:r>
              <a:rPr sz="2500" b="1" i="0">
                <a:solidFill>
                  <a:srgbClr val="FFFFFF"/>
                </a:solidFill>
                <a:latin typeface="Segoe UI"/>
              </a:rPr>
              <a:t>Eye State CNN — Trained From Scratch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E6F3F0"/>
                </a:solidFill>
                <a:latin typeface="Segoe U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DRIVER FATIGUE &amp; DISTRACTION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16 / 26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1554480"/>
          <a:ext cx="1100297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1487"/>
                <a:gridCol w="5501488"/>
              </a:tblGrid>
              <a:tr h="640080">
                <a:tc>
                  <a:txBody>
                    <a:bodyPr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Layer Block</a:t>
                      </a:r>
                    </a:p>
                  </a:txBody>
                  <a:tcPr marT="101600" marB="101600">
                    <a:solidFill>
                      <a:srgbClr val="0F6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Details</a:t>
                      </a:r>
                    </a:p>
                  </a:txBody>
                  <a:tcPr marT="101600" marB="101600">
                    <a:solidFill>
                      <a:srgbClr val="0F6E5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Conv Block 1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Conv2d(1→32, 3x3) → BatchNorm → ReLU → MaxPool(2x2)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Conv Block 2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Conv2d(32→64, 3x3) → BatchNorm → ReLU → MaxPool(2x2)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Conv Block 3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Conv2d(64→128, 3x3) → BatchNorm → ReLU → MaxPool(2x2)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Classifier Head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Flatten → Linear(1152→256) → ReLU → Dropout(0.5) → Linear(256→2)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Input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24x24 grayscale eye crop, normalized (mean/std = 0.5)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Output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2-class softmax — open / closed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noFill/>
          <a:ln w="177800">
            <a:solidFill>
              <a:srgbClr val="E6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292608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0F6E5A"/>
                </a:solidFill>
                <a:latin typeface="Segoe UI"/>
              </a:rPr>
              <a:t>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2"/>
            <a:ext cx="92656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 i="0">
                <a:solidFill>
                  <a:srgbClr val="E3A01E"/>
                </a:solidFill>
                <a:latin typeface="Segoe UI"/>
              </a:rPr>
              <a:t>MODEL 2</a:t>
            </a:r>
          </a:p>
          <a:p>
            <a:r>
              <a:rPr sz="2500" b="1" i="0">
                <a:solidFill>
                  <a:srgbClr val="FFFFFF"/>
                </a:solidFill>
                <a:latin typeface="Segoe UI"/>
              </a:rPr>
              <a:t>Training Configuration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E6F3F0"/>
                </a:solidFill>
                <a:latin typeface="Segoe UI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DRIVER FATIGUE &amp; DISTRACTION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17 / 26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1600200"/>
          <a:ext cx="1100297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1487"/>
                <a:gridCol w="5501488"/>
              </a:tblGrid>
              <a:tr h="548640">
                <a:tc>
                  <a:txBody>
                    <a:bodyPr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Hyperparameter</a:t>
                      </a:r>
                    </a:p>
                  </a:txBody>
                  <a:tcPr marT="101600" marB="101600">
                    <a:solidFill>
                      <a:srgbClr val="0F6E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Value</a:t>
                      </a:r>
                    </a:p>
                  </a:txBody>
                  <a:tcPr marT="101600" marB="101600">
                    <a:solidFill>
                      <a:srgbClr val="0F6E5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Epochs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Batch Size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32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Optimizer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Adam, lr = 0.001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Loss Function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CrossEntropyLoss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Train / Val Split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80% / 20% (random split)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Checkpointing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Best validation-accuracy epoch saved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Inference Threshold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closed if P(closed) &gt; 0.4 — lowered from 0.5 for sensitivity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noFill/>
          <a:ln w="177800">
            <a:solidFill>
              <a:srgbClr val="E6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292608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0F6E5A"/>
                </a:solidFill>
                <a:latin typeface="Segoe UI"/>
              </a:rPr>
              <a:t>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2"/>
            <a:ext cx="92656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 i="0">
                <a:solidFill>
                  <a:srgbClr val="E3A01E"/>
                </a:solidFill>
                <a:latin typeface="Segoe UI"/>
              </a:rPr>
              <a:t>DETECTION LOGIC</a:t>
            </a:r>
          </a:p>
          <a:p>
            <a:r>
              <a:rPr sz="2500" b="1" i="0">
                <a:solidFill>
                  <a:srgbClr val="FFFFFF"/>
                </a:solidFill>
                <a:latin typeface="Segoe UI"/>
              </a:rPr>
              <a:t>Detecting Drowsiness — From Eyes to Beep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E6F3F0"/>
                </a:solidFill>
                <a:latin typeface="Segoe UI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DRIVER FATIGUE &amp; DISTRACTION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18 / 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737360"/>
            <a:ext cx="1834835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F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 i="0">
                <a:solidFill>
                  <a:srgbClr val="0A4237"/>
                </a:solidFill>
                <a:latin typeface="Segoe UI"/>
              </a:rPr>
              <a:t>Eye Crop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5B636E"/>
                </a:solidFill>
                <a:latin typeface="Segoe UI"/>
              </a:rPr>
              <a:t>MediaPipe landmarks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465771" y="2244852"/>
            <a:ext cx="384048" cy="219456"/>
          </a:xfrm>
          <a:prstGeom prst="rightArrow">
            <a:avLst/>
          </a:prstGeom>
          <a:solidFill>
            <a:srgbClr val="E3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86395" y="1737360"/>
            <a:ext cx="1834835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F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 i="0">
                <a:solidFill>
                  <a:srgbClr val="0A4237"/>
                </a:solidFill>
                <a:latin typeface="Segoe UI"/>
              </a:rPr>
              <a:t>CNN Classifier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5B636E"/>
                </a:solidFill>
                <a:latin typeface="Segoe UI"/>
              </a:rPr>
              <a:t>Open / Closed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757806" y="2244852"/>
            <a:ext cx="384048" cy="219456"/>
          </a:xfrm>
          <a:prstGeom prst="rightArrow">
            <a:avLst/>
          </a:prstGeom>
          <a:solidFill>
            <a:srgbClr val="E3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78430" y="1737360"/>
            <a:ext cx="1834835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F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 i="0">
                <a:solidFill>
                  <a:srgbClr val="0A4237"/>
                </a:solidFill>
                <a:latin typeface="Segoe UI"/>
              </a:rPr>
              <a:t>Closed-Frame Counter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5B636E"/>
                </a:solidFill>
                <a:latin typeface="Segoe UI"/>
              </a:rPr>
              <a:t>Increments while both eyes closed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049841" y="2244852"/>
            <a:ext cx="384048" cy="219456"/>
          </a:xfrm>
          <a:prstGeom prst="rightArrow">
            <a:avLst/>
          </a:prstGeom>
          <a:solidFill>
            <a:srgbClr val="E3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70465" y="1737360"/>
            <a:ext cx="1834835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F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 i="0">
                <a:solidFill>
                  <a:srgbClr val="0A4237"/>
                </a:solidFill>
                <a:latin typeface="Segoe UI"/>
              </a:rPr>
              <a:t>≥ 15 Frames?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5B636E"/>
                </a:solidFill>
                <a:latin typeface="Segoe UI"/>
              </a:rPr>
              <a:t>≈0.5-1 second threshold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341876" y="2244852"/>
            <a:ext cx="384048" cy="219456"/>
          </a:xfrm>
          <a:prstGeom prst="rightArrow">
            <a:avLst/>
          </a:prstGeom>
          <a:solidFill>
            <a:srgbClr val="E3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762500" y="1737360"/>
            <a:ext cx="1834835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F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 i="0">
                <a:solidFill>
                  <a:srgbClr val="0A4237"/>
                </a:solidFill>
                <a:latin typeface="Segoe UI"/>
              </a:rPr>
              <a:t>BEEP + Alert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5B636E"/>
                </a:solidFill>
                <a:latin typeface="Segoe UI"/>
              </a:rPr>
              <a:t>pygame alarm.wav, looped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429000"/>
            <a:ext cx="11140135" cy="79248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9808" y="358444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538728"/>
            <a:ext cx="10271455" cy="573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Both eyes must agree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The counter only increments when LEFT and RIGHT are both classified closed — a single droopy eye doesn't trigger it.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450080"/>
            <a:ext cx="11140135" cy="79248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49808" y="460552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559808"/>
            <a:ext cx="10271455" cy="573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Instant reset on reopening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The moment either eye reopens, the counter resets to zero and the alarm stops immediately.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471160"/>
            <a:ext cx="11140135" cy="79248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9808" y="562660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580888"/>
            <a:ext cx="10271455" cy="573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Visual + audible together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A looped alarm.wav plays via pygame AND a red border flashes on the live video feed.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51215" y="2834640"/>
            <a:ext cx="5486400" cy="548640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91295" y="3474721"/>
            <a:ext cx="4206240" cy="420624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85656" y="4069080"/>
            <a:ext cx="3017520" cy="301752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0" b="1" i="0">
                <a:solidFill>
                  <a:srgbClr val="1F937C"/>
                </a:solidFill>
                <a:latin typeface="Segoe UI Light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4612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Segoe UI"/>
              </a:rPr>
              <a:t>Real-World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16052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6F3F0"/>
                </a:solidFill>
                <a:latin typeface="Segoe UI"/>
              </a:rPr>
              <a:t>Turning a detection signal into an actual vehicle response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4023360"/>
            <a:ext cx="1280160" cy="38100"/>
          </a:xfrm>
          <a:prstGeom prst="rect">
            <a:avLst/>
          </a:prstGeom>
          <a:solidFill>
            <a:srgbClr val="E3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noFill/>
          <a:ln w="177800">
            <a:solidFill>
              <a:srgbClr val="E6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292608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0F6E5A"/>
                </a:solidFill>
                <a:latin typeface="Segoe UI"/>
              </a:rPr>
              <a:t>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2"/>
            <a:ext cx="92656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 i="0">
                <a:solidFill>
                  <a:srgbClr val="E3A01E"/>
                </a:solidFill>
                <a:latin typeface="Segoe UI"/>
              </a:rPr>
              <a:t>REAL-WORLD USE CASE</a:t>
            </a:r>
          </a:p>
          <a:p>
            <a:r>
              <a:rPr sz="2500" b="1" i="0">
                <a:solidFill>
                  <a:srgbClr val="FFFFFF"/>
                </a:solidFill>
                <a:latin typeface="Segoe UI"/>
              </a:rPr>
              <a:t>Vehicle Response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E6F3F0"/>
                </a:solidFill>
                <a:latin typeface="Segoe UI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DRIVER FATIGUE &amp; DISTRACTION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20 / 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737360"/>
            <a:ext cx="5455767" cy="219456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9808" y="189280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847088"/>
            <a:ext cx="4587087" cy="1975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The real payoff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The live Driver State drives an actual simulated vehicle's behavior — not just a log line.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1737360"/>
            <a:ext cx="5455767" cy="219456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4175" y="189280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8807" y="1847088"/>
            <a:ext cx="4587087" cy="1975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Primary: CARLA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An open-source AV simulator — a real 3D vehicle in traffic, controlled by the app's live output.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160520"/>
            <a:ext cx="5455767" cy="219456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431596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270248"/>
            <a:ext cx="4587087" cy="1975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Automatic fallback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A lightweight custom Tkinter simulation opens instantly if no CARLA server is reachable.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4160520"/>
            <a:ext cx="5455767" cy="219456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34175" y="431596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8807" y="4270248"/>
            <a:ext cx="4587087" cy="1975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Zero-risk design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Same Driver State interface either way — no detection-logic changes needed to switch backends.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noFill/>
          <a:ln w="177800">
            <a:solidFill>
              <a:srgbClr val="E6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292608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0F6E5A"/>
                </a:solidFill>
                <a:latin typeface="Segoe UI"/>
              </a:rPr>
              <a:t>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2"/>
            <a:ext cx="92656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 i="0">
                <a:solidFill>
                  <a:srgbClr val="E3A01E"/>
                </a:solidFill>
                <a:latin typeface="Segoe UI"/>
              </a:rPr>
              <a:t>REAL-WORLD USE CASE</a:t>
            </a:r>
          </a:p>
          <a:p>
            <a:r>
              <a:rPr sz="2500" b="1" i="0">
                <a:solidFill>
                  <a:srgbClr val="FFFFFF"/>
                </a:solidFill>
                <a:latin typeface="Segoe UI"/>
              </a:rPr>
              <a:t>Fatigue Level Escalation (CARLA)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E6F3F0"/>
                </a:solidFill>
                <a:latin typeface="Segoe UI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DRIVER FATIGUE &amp; DISTRACTION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21 / 26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4360" y="1691640"/>
          <a:ext cx="1100297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7658"/>
                <a:gridCol w="3667658"/>
                <a:gridCol w="3667659"/>
              </a:tblGrid>
              <a:tr h="571500">
                <a:tc>
                  <a:txBody>
                    <a:bodyPr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Level</a:t>
                      </a:r>
                    </a:p>
                  </a:txBody>
                  <a:tcPr marT="101600" marB="101600">
                    <a:solidFill>
                      <a:srgbClr val="E3A0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Trigger</a:t>
                      </a:r>
                    </a:p>
                  </a:txBody>
                  <a:tcPr marT="101600" marB="101600">
                    <a:solidFill>
                      <a:srgbClr val="E3A0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Segoe UI"/>
                        </a:rPr>
                        <a:t>Vehicle Response</a:t>
                      </a:r>
                    </a:p>
                  </a:txBody>
                  <a:tcPr marT="101600" marB="101600">
                    <a:solidFill>
                      <a:srgbClr val="E3A01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≥ 15 consecutive closed frames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Audible beep (existing alarm)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≥ 30 consecutive closed frames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Vehicle speed reduced to 15 km/h</a:t>
                      </a:r>
                    </a:p>
                  </a:txBody>
                  <a:tcPr marT="76200" marB="76200">
                    <a:solidFill>
                      <a:srgbClr val="F6F9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≥ 45 consecutive closed frames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81C22"/>
                          </a:solidFill>
                          <a:latin typeface="Segoe UI"/>
                        </a:rPr>
                        <a:t>Full stop — brake + handbrake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94360" y="4297680"/>
            <a:ext cx="5455767" cy="196596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445312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407408"/>
            <a:ext cx="4587087" cy="1746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Waypoint-following control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CarlaBridge steers along the road via live waypoints, not a straight 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727" y="4297680"/>
            <a:ext cx="5455767" cy="196596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34175" y="445312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8807" y="4407408"/>
            <a:ext cx="4587087" cy="1746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20 Hz response loop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Reads the driver's fatigue level and adjusts throttle/brake 20 times per second.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51215" y="2834640"/>
            <a:ext cx="5486400" cy="548640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91295" y="3474721"/>
            <a:ext cx="4206240" cy="420624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85656" y="4069080"/>
            <a:ext cx="3017520" cy="301752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0" b="1" i="0">
                <a:solidFill>
                  <a:srgbClr val="1F937C"/>
                </a:solidFill>
                <a:latin typeface="Segoe UI Light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4612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Segoe UI"/>
              </a:rPr>
              <a:t>Wrap-Up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16052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6F3F0"/>
                </a:solidFill>
                <a:latin typeface="Segoe UI"/>
              </a:rPr>
              <a:t>Where the current model falls short, and what comes next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4023360"/>
            <a:ext cx="1280160" cy="38100"/>
          </a:xfrm>
          <a:prstGeom prst="rect">
            <a:avLst/>
          </a:prstGeom>
          <a:solidFill>
            <a:srgbClr val="E3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noFill/>
          <a:ln w="177800">
            <a:solidFill>
              <a:srgbClr val="E6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292608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0F6E5A"/>
                </a:solidFill>
                <a:latin typeface="Segoe UI"/>
              </a:rPr>
              <a:t>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2"/>
            <a:ext cx="92656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 i="0">
                <a:solidFill>
                  <a:srgbClr val="E3A01E"/>
                </a:solidFill>
                <a:latin typeface="Segoe UI"/>
              </a:rPr>
              <a:t>LOOKING AHEAD</a:t>
            </a:r>
          </a:p>
          <a:p>
            <a:r>
              <a:rPr sz="2500" b="1" i="0">
                <a:solidFill>
                  <a:srgbClr val="FFFFFF"/>
                </a:solidFill>
                <a:latin typeface="Segoe UI"/>
              </a:rPr>
              <a:t>Limitations of the Current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E6F3F0"/>
                </a:solidFill>
                <a:latin typeface="Segoe UI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DRIVER FATIGUE &amp; DISTRACTION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23 / 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737360"/>
            <a:ext cx="5455767" cy="219456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9808" y="189280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847088"/>
            <a:ext cx="4587087" cy="1975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YOLO detector underused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Trained but not yet wired in as a pre-crop step in the live loop — MediaPipe does that job for now.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1737360"/>
            <a:ext cx="5455767" cy="219456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4175" y="189280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8807" y="1847088"/>
            <a:ext cx="4587087" cy="1975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Untested edge cases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Low light and eyewear (glasses/sunglasses) performance not yet formally evaluated.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160520"/>
            <a:ext cx="5455767" cy="219456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431596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270248"/>
            <a:ext cx="4587087" cy="1975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Frame-rate dependence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Eye-closure duration is measured in frame counts, so trigger timing shifts slightly with camera FPS.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4160520"/>
            <a:ext cx="5455767" cy="219456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34175" y="431596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8807" y="4270248"/>
            <a:ext cx="4587087" cy="1975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CARLA needs its server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The bridge is real and tested — but needs the CARLA server running separately to produce a live 3D simulation.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255" y="-1463040"/>
            <a:ext cx="3840480" cy="3840480"/>
          </a:xfrm>
          <a:prstGeom prst="ellipse">
            <a:avLst/>
          </a:prstGeom>
          <a:noFill/>
          <a:ln w="177800">
            <a:solidFill>
              <a:srgbClr val="E6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5216" y="292608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0F6E5A"/>
                </a:solidFill>
                <a:latin typeface="Segoe UI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4592"/>
            <a:ext cx="926561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 i="0">
                <a:solidFill>
                  <a:srgbClr val="E3A01E"/>
                </a:solidFill>
                <a:latin typeface="Segoe UI"/>
              </a:rPr>
              <a:t>LOOKING AHEAD</a:t>
            </a:r>
          </a:p>
          <a:p>
            <a:r>
              <a:rPr sz="2500" b="1" i="0">
                <a:solidFill>
                  <a:srgbClr val="FFFFFF"/>
                </a:solidFill>
                <a:latin typeface="Segoe UI"/>
              </a:rPr>
              <a:t>Future Outcome &amp;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3840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 i="0">
                <a:solidFill>
                  <a:srgbClr val="E6F3F0"/>
                </a:solidFill>
                <a:latin typeface="Segoe UI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DRIVER FATIGUE &amp; DISTRACTION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AEB6BF"/>
                </a:solidFill>
                <a:latin typeface="Segoe UI"/>
              </a:rPr>
              <a:t>24 / 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737360"/>
            <a:ext cx="5455767" cy="219456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9808" y="189280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847088"/>
            <a:ext cx="4587087" cy="1975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Yawn &amp; nod detection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Extend the same landmark pipeline to catch yawning and head-nodding micro-sleep cues.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1737360"/>
            <a:ext cx="5455767" cy="219456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4175" y="189280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8807" y="1847088"/>
            <a:ext cx="4587087" cy="1975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Real CAN-bus integration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Replace the CARLA bridge with an actual vehicle's control bus, using the same Driver State interface.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160520"/>
            <a:ext cx="5455767" cy="219456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431596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270248"/>
            <a:ext cx="4587087" cy="1975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Multi-driver profiles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Store calibration baselines per driver so the system recognizes returning users instantly.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4160520"/>
            <a:ext cx="5455767" cy="2194560"/>
          </a:xfrm>
          <a:prstGeom prst="roundRect">
            <a:avLst>
              <a:gd name="adj" fmla="val 6000"/>
            </a:avLst>
          </a:prstGeom>
          <a:solidFill>
            <a:srgbClr val="F6F9F8"/>
          </a:solidFill>
          <a:ln w="9525">
            <a:solidFill>
              <a:srgbClr val="CF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34175" y="4315968"/>
            <a:ext cx="384048" cy="384048"/>
          </a:xfrm>
          <a:prstGeom prst="ellipse">
            <a:avLst/>
          </a:prstGeom>
          <a:solidFill>
            <a:srgbClr val="0F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8807" y="4270248"/>
            <a:ext cx="4587087" cy="1975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50" b="1" i="0">
                <a:solidFill>
                  <a:srgbClr val="0A4237"/>
                </a:solidFill>
                <a:latin typeface="Segoe UI"/>
              </a:rPr>
              <a:t>Field validation study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150" b="0" i="0">
                <a:solidFill>
                  <a:srgbClr val="5B636E"/>
                </a:solidFill>
                <a:latin typeface="Segoe UI"/>
              </a:rPr>
              <a:t>Formal accuracy testing across lighting conditions, eyewear, and diverse driver demographics.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6E5A"/>
              </a:gs>
              <a:gs pos="100000">
                <a:srgbClr val="0A423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895447" y="3108961"/>
            <a:ext cx="6400800" cy="640080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26967" y="3840480"/>
            <a:ext cx="4937760" cy="493776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267047" y="4480560"/>
            <a:ext cx="3657600" cy="365760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E3A01E"/>
                </a:solidFill>
                <a:latin typeface="Segoe UI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Segoe UI"/>
              </a:rPr>
              <a:t>A Complete, Working Driver Monitoring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9418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E6F3F0"/>
                </a:solidFill>
                <a:latin typeface="Segoe UI"/>
              </a:rPr>
              <a:t>Transfer learning (YOLOv8), a pretrained landmark model (MediaPipe), a from-scratch CNN, and solvePnP head-pose estimation — combined into a system that distinguishes ATTENTIVE, DISTRACTED, and DROWSY driver states in real time, with a live dashboard, audible alerting, and a demonstrated path to real vehicle response.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4237"/>
              </a:gs>
              <a:gs pos="100000">
                <a:srgbClr val="0F6E5A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943600" y="1097280"/>
            <a:ext cx="7772400" cy="777240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297680" y="2743200"/>
            <a:ext cx="6126480" cy="612648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743200" y="4297680"/>
            <a:ext cx="4572000" cy="4572000"/>
          </a:xfrm>
          <a:prstGeom prst="ellipse">
            <a:avLst/>
          </a:prstGeom>
          <a:noFill/>
          <a:ln w="15875">
            <a:solidFill>
              <a:srgbClr val="1C8A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5455767" y="3794760"/>
            <a:ext cx="1280160" cy="38100"/>
          </a:xfrm>
          <a:prstGeom prst="rect">
            <a:avLst/>
          </a:prstGeom>
          <a:solidFill>
            <a:srgbClr val="E3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E6F3F0"/>
                </a:solidFill>
                <a:latin typeface="Segoe UI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